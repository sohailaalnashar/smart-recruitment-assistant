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00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Recruitment Assistant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Candidate Job Change Intent using Machine Learning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21945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MEMBERS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Catherine Albert Adib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Malak Zidan Amin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230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Sohaila Hany Elnashar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5230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Sondos Mostafa Ahmed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Hiring Costs &amp; Retention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669280" cy="2103120"/>
          </a:xfrm>
          <a:prstGeom prst="roundRect">
            <a:avLst>
              <a:gd name="adj" fmla="val 5217"/>
            </a:avLst>
          </a:prstGeom>
          <a:solidFill>
            <a:srgbClr val="FCE4E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spend high budgets training new hires, only to lose them shortly after to other offers.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struggle to identify which candidate is looking for a job switch vs. who just wants training.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554480"/>
            <a:ext cx="2834640" cy="2103120"/>
          </a:xfrm>
          <a:prstGeom prst="roundRect">
            <a:avLst>
              <a:gd name="adj" fmla="val 5217"/>
            </a:avLst>
          </a:prstGeom>
          <a:solidFill>
            <a:srgbClr val="E6007E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288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" kern="0" dirty="0">
                <a:solidFill>
                  <a:srgbClr val="F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BASELINE LOOKING FOR JOB CHANGE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509760" y="1554480"/>
            <a:ext cx="2834640" cy="2103120"/>
          </a:xfrm>
          <a:prstGeom prst="roundRect">
            <a:avLst>
              <a:gd name="adj" fmla="val 5217"/>
            </a:avLst>
          </a:prstGeom>
          <a:solidFill>
            <a:srgbClr val="E6007E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0" y="18288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692640" y="2788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" kern="0" dirty="0">
                <a:solidFill>
                  <a:srgbClr val="F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OF REPLACING LOST DATA TALENT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Recruitment Assistant — Graduation Project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&amp;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CE4E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values cleanly in key columns (company size, experience, education level) without losing data rows.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CE4EC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828800"/>
            <a:ext cx="502920" cy="50292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1801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19456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work experience into simple categories (Entry, Mid-Senior, Senior, Expert) for better model reading.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CE4E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9502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3434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text values (e.g. city development level, university status) into clear numerical formats for machine learning.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CE4E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3977640"/>
            <a:ext cx="502920" cy="50292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39502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Dataset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43434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class imbalance (via balanced class weighting) so the algorithm doesn't ignore candidates who want to switch jobs.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Recruitment Assistant — Graduation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DETAILS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Two-Model Approach: Logistic Regression &amp; Random Forest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852160" cy="2011680"/>
        </p:xfrm>
        <a:graphic>
          <a:graphicData uri="http://schemas.openxmlformats.org/drawingml/2006/table">
            <a:tbl>
              <a:tblPr/>
              <a:tblGrid>
                <a:gridCol w="274320"/>
                <a:gridCol w="557784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— fast, interpretable baseline.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— ensemble of trees for stronger, more stable predictions.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tuned with balanced class weights to fix the 75/25 imbalance.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600200"/>
            <a:ext cx="4937760" cy="2286000"/>
          </a:xfrm>
          <a:prstGeom prst="roundRect">
            <a:avLst>
              <a:gd name="adj" fmla="val 4000"/>
            </a:avLst>
          </a:prstGeom>
          <a:solidFill>
            <a:srgbClr val="FCE4EC"/>
          </a:solidFill>
          <a:ln/>
        </p:spPr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783080"/>
          <a:ext cx="4572000" cy="192024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D0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D0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E4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+ 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E4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RandomizedSearchCV (Random Forest)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E4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(fixes 75/25 imbalance)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E4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Train/Test Split + Cross-Validation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E4E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Recruitment Assistant — Graduation Project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vs. Random Forest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classification models were trained and evaluated on identical train/test splits to select the strongest candidate-screening model.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315200" cy="237744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2194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(job-changers)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(job-changers)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 (job-changers)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201168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CE4EC"/>
          </a:solidFill>
          <a:ln/>
        </p:spPr>
      </p:sp>
      <p:sp>
        <p:nvSpPr>
          <p:cNvPr id="7" name="Text 4"/>
          <p:cNvSpPr/>
          <p:nvPr/>
        </p:nvSpPr>
        <p:spPr>
          <a:xfrm>
            <a:off x="836676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D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 Wins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66760" y="260604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 outperforms the linear baseline on every metric — especially recall and F1, meaning it catches more real job-seekers while producing fewer false alarms. Random Forest was selected as the production model; Logistic Regression is kept as an interpretable benchmark.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Recruitment Assistant — Graduation Project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Tuned Random Forest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3,832 held-out test candidates: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217920" cy="246888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Stay (0)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0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Change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0064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Stay (0)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0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(True Negative)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(False Positive)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Change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0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(False Negative)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(True Positive)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920240"/>
            <a:ext cx="4389120" cy="4114800"/>
          </a:xfrm>
          <a:prstGeom prst="roundRect">
            <a:avLst>
              <a:gd name="adj" fmla="val 2222"/>
            </a:avLst>
          </a:prstGeom>
          <a:solidFill>
            <a:srgbClr val="FCE4EC"/>
          </a:solidFill>
          <a:ln/>
        </p:spPr>
      </p:sp>
      <p:sp>
        <p:nvSpPr>
          <p:cNvPr id="7" name="Text 4"/>
          <p:cNvSpPr/>
          <p:nvPr/>
        </p:nvSpPr>
        <p:spPr>
          <a:xfrm>
            <a:off x="745236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D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Matrix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52360" y="251460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 true positives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switchers correctly flagged.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 false negatives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switchers missed.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536 false positives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extra resumes reviewed.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52360" y="4709160"/>
            <a:ext cx="3931920" cy="9144"/>
          </a:xfrm>
          <a:prstGeom prst="rect">
            <a:avLst/>
          </a:prstGeom>
          <a:solidFill>
            <a:srgbClr val="F3C2DA"/>
          </a:solidFill>
          <a:ln/>
        </p:spPr>
      </p:sp>
      <p:sp>
        <p:nvSpPr>
          <p:cNvPr id="10" name="Text 7"/>
          <p:cNvSpPr/>
          <p:nvPr/>
        </p:nvSpPr>
        <p:spPr>
          <a:xfrm>
            <a:off x="7452360" y="48463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D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1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real switcher costs more than reviewing an extra resume — so recall is weighted heavily.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Recruitment Assistant — Graduation Project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vs. Least Important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CE4E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Top Predictive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City Development Index: </a:t>
            </a:r>
            <a:pPr indent="0" marL="0">
              <a:buNone/>
            </a:pPr>
            <a:r>
              <a:rPr lang="en-US" sz="125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in lower-index cities are much more eager to change jobs.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Total Experience: </a:t>
            </a:r>
            <a:pPr indent="0" marL="0">
              <a:buNone/>
            </a:pPr>
            <a:r>
              <a:rPr lang="en-US" sz="125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with 1–5 years of experience switch most often.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Company Size: </a:t>
            </a:r>
            <a:pPr indent="0" marL="0">
              <a:buNone/>
            </a:pPr>
            <a:r>
              <a:rPr lang="en-US" sz="125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at small startups are more open to new offers.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DEEF6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Least Predictive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University Enrollment: </a:t>
            </a:r>
            <a:pPr indent="0" marL="0">
              <a:buNone/>
            </a:pPr>
            <a:r>
              <a:rPr lang="en-US" sz="125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status has almost no influence on job change.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32918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Education Level: </a:t>
            </a:r>
            <a:pPr indent="0" marL="0">
              <a:buNone/>
            </a:pPr>
            <a:r>
              <a:rPr lang="en-US" sz="125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vs Bachelors makes little difference in intent.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42519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Major Discipline: </a:t>
            </a:r>
            <a:pPr indent="0" marL="0">
              <a:buNone/>
            </a:pPr>
            <a:r>
              <a:rPr lang="en-US" sz="125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vs non-STEM fields show similar switching patterns.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Recruitment Assistant — Graduation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BONUS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Ranking System — Top 10 Applicants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are scored by predicted switch probability and ranked highest to lowest.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0698480" cy="402336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512064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Probability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94.0% likely a switcher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D0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94.0% likely a switcher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D0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marked staying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D0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marked staying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D0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marked staying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D0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94.0% likely a switcher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D0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marked staying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D0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marked staying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D0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marked staying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D0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marked staying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D0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C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Recruitment Assistant — Graduation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&amp;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CE4E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Right Locations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recruitment campaigns in developing cities where candidates actively seek growth opportunities.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CE4E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Spending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2402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wasting training budget on candidates who intend to leave immediately after finishing courses.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CE4E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Recruitment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thousands of applications automatically and rank top candidates instantly by switch probability.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37490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CE4E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977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3891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gut-feeling hiring to data-backed decisions powered by Random Forest predictive analytics.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Recruitment Assistant — Graduation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600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Recruitment Assistant 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2026-07-20T09:45:38Z</dcterms:created>
  <dcterms:modified xsi:type="dcterms:W3CDTF">2026-07-20T09:45:38Z</dcterms:modified>
</cp:coreProperties>
</file>